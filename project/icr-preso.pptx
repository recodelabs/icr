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48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11111"/>
                </a:solidFill>
                <a:latin typeface="Helvetica Neue"/>
              </a:rPr>
              <a:t>Integrated Campaign Registry (ICR)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429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555555"/>
                </a:solidFill>
                <a:latin typeface="Helvetica Neue"/>
              </a:rPr>
              <a:t>A FHIR standard for reusable health-campaign data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3383280"/>
            <a:ext cx="384048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55555"/>
                </a:solidFill>
                <a:latin typeface="Helvetica Neue"/>
              </a:rPr>
              <a:t>UNICEF · Ona + Crosscut · worked examples: ESPEN MDA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1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The problem ICR solves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Campaigns re-collect the same data every round — people, places, eligibility, coverage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Results end up in one-off spreadsheets; the next round starts from scratch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ICR: a shared, reusable data model so campaign data compounds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UNICEF standards framework + open-source reference implementation, on HL7 FHIR R4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An LF MDA re-registers every village and re-estimates every denominator, every round. ICR makes each of those a durable, reusable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2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What ICR 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Core: a FHIR Implementation Guide — profiles, extensions, terminology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Models what routine health systems don’t: campaigns, populations, geography, delivery, coverage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Complement to WHO SMART Immunizations (routine-only) — “the campaign SMART-Guidelines IG”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One typology: Type A fixed post · Type B house-to-house · Type C community-directed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17 profiles · 35 extensions · 25 code systems · 6 Measures · 41 worked examples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Community-directed treatment with ivermectin (CDTI) is the canonical Type C model: a CDD treats a whole community against a village register.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3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The data model at a glance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07008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11111"/>
                </a:solidFill>
                <a:latin typeface="Helvetica Neue"/>
              </a:rPr>
              <a:t>–  Built on CarePlan — FHIR has no native Campaign resource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11111"/>
                </a:solidFill>
                <a:latin typeface="Helvetica Neue"/>
              </a:rPr>
              <a:t>–  Operational layer: protocol → campaign → task → delivery events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11111"/>
                </a:solidFill>
                <a:latin typeface="Helvetica Neue"/>
              </a:rPr>
              <a:t>–  Identity layer: Patient, Group, Location — who kept separate from where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11111"/>
                </a:solidFill>
                <a:latin typeface="Helvetica Neue"/>
              </a:rPr>
              <a:t>–  Analytics layer: Measure + MeasureReport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11111"/>
                </a:solidFill>
                <a:latin typeface="Helvetica Neue"/>
              </a:rPr>
              <a:t>–  Every profile is valid plain FHIR</a:t>
            </a:r>
          </a:p>
        </p:txBody>
      </p:sp>
      <p:pic>
        <p:nvPicPr>
          <p:cNvPr id="5" name="Picture 4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752" y="2766060"/>
            <a:ext cx="7580015" cy="269748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The diagram traces one MDA thread end to end — LF protocol to the Rokupr treatment tally.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4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Campaign Protocol — the reusable template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PlanDefinition: the versioned template — define a campaign type once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Every execution instantiates it → all rounds comparable, one query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Carries no geography, dates, or denominator — those live on the execution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Disease-agnostic type; mandatory, repeatable delivery strategies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National LF MDA protocol: type mda, community-directed, ivermectin + albendazole, goal ≥65% epidemiological coverage. Every district round instantiates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5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Campaign — the execution record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07008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11111"/>
                </a:solidFill>
                <a:latin typeface="Helvetica Neue"/>
              </a:rPr>
              <a:t>–  CarePlan: one execution or round, pointing at exactly one protocol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11111"/>
                </a:solidFill>
                <a:latin typeface="Helvetica Neue"/>
              </a:rPr>
              <a:t>–  Starts as microplan (plan) → becomes the execution record (order) — same resource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11111"/>
                </a:solidFill>
                <a:latin typeface="Helvetica Neue"/>
              </a:rPr>
              <a:t>–  Umbrella and rounds are the same profile, linked by partOf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11111"/>
                </a:solidFill>
                <a:latin typeface="Helvetica Neue"/>
              </a:rPr>
              <a:t>–  One subject (the denominator); target geography separate and plural</a:t>
            </a:r>
          </a:p>
        </p:txBody>
      </p:sp>
      <p:pic>
        <p:nvPicPr>
          <p:cNvPr id="5" name="Picture 4" descr="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896" y="2766060"/>
            <a:ext cx="6713728" cy="269748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The national MDA is the umbrella; the Kambia round runs with its own denominator, dates, and tasks — mobilized via town criers and community leaders.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6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Activity &amp; Task — the units of 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07008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11111"/>
                </a:solidFill>
                <a:latin typeface="Helvetica Neue"/>
              </a:rPr>
              <a:t>–  Activity defines the intervention once; thousands of Tasks instantiate it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11111"/>
                </a:solidFill>
                <a:latin typeface="Helvetica Neue"/>
              </a:rPr>
              <a:t>–  One Task per site session or household/community visit — one profile, all models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11111"/>
                </a:solidFill>
                <a:latin typeface="Helvetica Neue"/>
              </a:rPr>
              <a:t>–  Pre-planned or field-registered; field registration measures microplan gaps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11111"/>
                </a:solidFill>
                <a:latin typeface="Helvetica Neue"/>
              </a:rPr>
              <a:t>–  Three reason axes: missed · noncompliance · exclusion</a:t>
            </a:r>
          </a:p>
        </p:txBody>
      </p:sp>
      <p:pic>
        <p:nvPicPr>
          <p:cNvPr id="5" name="Picture 4" descr="activity-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35189"/>
            <a:ext cx="11064240" cy="215922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One albendazole activity → one task per village. The Rokupr task: 2,900 treated, plus exclusions, absences, and refusals.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7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Care Team — accountability &amp; supervision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CDDs / vaccinators + supervisor, coded roles, managing organization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Task owner is a real reference — “who worked this area” is a query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Carries the microplan workload: area, population, households, days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Supervision = coded checklist responses; readiness rolls up to a Measure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CDD team 7, Rokupr — 3,200 people over 5 days. Supervision record: DOC observed ✓, height chart ✓, stock concordant ✗.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8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Patient — the registered individual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Aligned to WHO IMMZ.Patient — a campaign member is a WHO-conformant subject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Stable identifier required — national ID preferred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Gender + birth date mandatory: they drive eligibility and disaggregation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Rejoins across rounds: person ID, or dwelling + head of household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Consent profile governs storage and cross-border sharing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The village register becomes persistent Patients — per-person treatment history across rounds, the input TAS-readiness assessments need.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9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Delivery Unit — the group a task acts 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Group (actual = true): household, community, or school cohort — one profile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Members are enumerated Patients; a head count is the register-level fallback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Who separated from where — each keeps a stable identity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Cross-campaign household join: head of household + dwelling place ID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Rokupr community is one delivery unit: kind community, quantity 3,480, located at the Rokupr settlement.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10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Target Population — the denominator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Group (actual = false): a count with source + date provenance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Competing estimates coexist; one is flagged the planning denominator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Geography-scoped by reference, at any level of the hierarchy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Total-population vs at-risk: programme vs epidemiological coverage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Form 1 extracts five denominators per village — total, eligible, 1–4, 5–14, 15+ — each carrying its source and date.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11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Location — the place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2588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11111"/>
                </a:solidFill>
                <a:latin typeface="Helvetica Neue"/>
              </a:rPr>
              <a:t>–  Admin hierarchy country → dwelling; typed locations; GPS + GeoJSON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11111"/>
                </a:solidFill>
                <a:latin typeface="Helvetica Neue"/>
              </a:rPr>
              <a:t>–  Multi-system identity: GERS preferred; P-codes, national, ISO coequal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11111"/>
                </a:solidFill>
                <a:latin typeface="Helvetica Neue"/>
              </a:rPr>
              <a:t>–  Operational geography overlays the admin tree — it does not sit in it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11111"/>
                </a:solidFill>
                <a:latin typeface="Helvetica Neue"/>
              </a:rPr>
              <a:t>–  Locations created unmatched; GERS IDs back-filled later</a:t>
            </a:r>
          </a:p>
        </p:txBody>
      </p:sp>
      <p:pic>
        <p:nvPicPr>
          <p:cNvPr id="5" name="Picture 4" descr="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5582"/>
            <a:ext cx="5623560" cy="3283954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Form 1’s cascade — state → district → facility → village + GPS. The supervisor’s zone overlays the district it reports into.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12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Delivery events — what was delivered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07008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11111"/>
                </a:solidFill>
                <a:latin typeface="Helvetica Neue"/>
              </a:rPr>
              <a:t>–  Immunization: dose + lot / manufacturer traceability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11111"/>
                </a:solidFill>
                <a:latin typeface="Helvetica Neue"/>
              </a:rPr>
              <a:t>–  MedicationAdministration: dose-pole band + directly-observed consumption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11111"/>
                </a:solidFill>
                <a:latin typeface="Helvetica Neue"/>
              </a:rPr>
              <a:t>–  SupplyDelivery: commodities + stock accountability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11111"/>
                </a:solidFill>
                <a:latin typeface="Helvetica Neue"/>
              </a:rPr>
              <a:t>–  Individual record with a person; aggregate on Task.output without one</a:t>
            </a:r>
          </a:p>
        </p:txBody>
      </p:sp>
      <p:pic>
        <p:nvPicPr>
          <p:cNvPr id="5" name="Picture 4" descr="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32765"/>
            <a:ext cx="11064240" cy="176406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3,600 tablets received → band-B doses observed swallowed → reconciled: used 3,080, remaining 500 — one ATC code end to 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13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Adverse events — one safety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Intervention-neutral: AEFI and MDA pharmacovigilance in one profile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Severity, seriousness (WHO/CIOMS criteria), causality A/B/C/D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Traces to the exact dose, lot, and manufacturer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Same campaign-vs-routine flag; ConceptMap to WHO artifacts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Abdominal pain after albendazole → references the exact administration; non-serious, causality C (coincidental).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14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Coverage — how MeasureReports 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2588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11111"/>
                </a:solidFill>
                <a:latin typeface="Helvetica Neue"/>
              </a:rPr>
              <a:t>–  MeasureReport: native numerator / denominator, pointing at a canonical Measure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11111"/>
                </a:solidFill>
                <a:latin typeface="Helvetica Neue"/>
              </a:rPr>
              <a:t>–  Administrative (own tallies + denominator provenance) vs survey (independent, sample design)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11111"/>
                </a:solidFill>
                <a:latin typeface="Helvetica Neue"/>
              </a:rPr>
              <a:t>–  Never merged — enforced structurally, not by convention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11111"/>
                </a:solidFill>
                <a:latin typeface="Helvetica Neue"/>
              </a:rPr>
              <a:t>–  Realtime vs reconciled lineage; a reporter is always required</a:t>
            </a:r>
          </a:p>
        </p:txBody>
      </p:sp>
      <p:pic>
        <p:nvPicPr>
          <p:cNvPr id="5" name="Picture 4" descr="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76110"/>
            <a:ext cx="5623560" cy="352289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Rokupr: 2,900 / 3,200 ≈ 91% administrative. The independent survey is a separate record that can never be blended with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15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Stratification &amp; the Measure library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Six canonical Measures: admin, survey, MDA treatment, geographic, zero-dose, readiness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Shared stratifiers: sex, age band, strategy, disposition, geography, dose history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Coverage units: people or implementation units; denominators: total or at-risk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Aligned with WHO JAP, ICG M&amp;E, and ESPEN reporting schemas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Form 3 → one stratified report: 91% by sex × age band × disposition. Geographic coverage: 188 / 200 villages ≈ 94%.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16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Terminology — CodeSystems &amp; ValueSets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Mint only new campaign semantics; reuse CVX, ATC, GS1, ISO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25 CodeSystems, each paired with a ValueSet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Required bindings for structural discriminators; extensible for field vocabularies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The independent-source ValueSet is what enforces never-merge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ESPEN added the NTD disease axis (lf, oncho, schisto, sth, trachoma) and medicine packages (ivm-alb, pzq, …); drugs stay WHO ATC.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17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Extensions — what FHIR lacks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35 extensions in four families: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Campaign mechanics — strategy, round, geography, planning denominator, lineage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Task field data — tallies, reasons, finger-marking, revisit outcomes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Denominator provenance — source, type, date, planning flag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Delivery &amp; safety — GeoJSON, DOC, dose pole, stock accountability, record origin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One MDA visit uses four of them: dose-pole band, directly-observed consumption, exclusion reason, stock accountability.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18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Design principles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Campaign vs routine: a mandatory firewall flag on every event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Three coverage views — planned, administrative, surveyed — never merged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Delivery strategy is first-class and coded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Denominator provenance travels with every estimate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Multi-system geo identity, GERS preferred; accountability queryable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All visible in one round: flagged treatments, 91% vs the survey kept apart, register tallies per strategy, two denominators with sources.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19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Grounded in field evidence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2588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11111"/>
                </a:solidFill>
                <a:latin typeface="Helvetica Neue"/>
              </a:rPr>
              <a:t>–  Complete worked scenario (SIA + MDA), 41 example instances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11111"/>
                </a:solidFill>
                <a:latin typeface="Helvetica Neue"/>
              </a:rPr>
              <a:t>–  Eight global-health source analyses: none contradicts the design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11111"/>
                </a:solidFill>
                <a:latin typeface="Helvetica Neue"/>
              </a:rPr>
              <a:t>–  Hardened on real instruments: 10 polio-SIA forms, 6 ESPEN MDA forms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11111"/>
                </a:solidFill>
                <a:latin typeface="Helvetica Neue"/>
              </a:rPr>
              <a:t>–  Filled ESPEN forms auto-extract to ICR resources (SDC)</a:t>
            </a:r>
          </a:p>
        </p:txBody>
      </p:sp>
      <p:pic>
        <p:nvPicPr>
          <p:cNvPr id="5" name="Picture 4" descr="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903" y="1348740"/>
            <a:ext cx="3479593" cy="3977639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The six ESPEN forms in the field become standard registry data — locations, denominators, stock, stratified coverage, supervision records.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BBBBB"/>
                </a:solidFill>
                <a:latin typeface="Helvetica Neue"/>
              </a:rPr>
              <a:t>20   </a:t>
            </a:r>
            <a:r>
              <a:rPr sz="2600" b="1">
                <a:solidFill>
                  <a:srgbClr val="111111"/>
                </a:solidFill>
                <a:latin typeface="Helvetica Neue"/>
              </a:rPr>
              <a:t>WHO alignment &amp; roadmap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6424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The campaign complement to WHO’s routine IG; reuse artifacts at the seams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Derive Measures from WHO’s 45 indicators; add the campaign-only ones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Next: executable CQL, SQL-on-FHIR, ConceptMaps, community review, 2-country pilots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111"/>
                </a:solidFill>
                <a:latin typeface="Helvetica Neue"/>
              </a:rPr>
              <a:t>–  17 months, 6 phases (May 2026 – Sep 2027) — Ona + Crosscut, for UNICEF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5596128"/>
            <a:ext cx="1106424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5705856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5555"/>
                </a:solidFill>
                <a:latin typeface="Helvetica Neue"/>
              </a:rPr>
              <a:t>ESPEN MDA — </a:t>
            </a:r>
            <a:r>
              <a:rPr sz="1250">
                <a:solidFill>
                  <a:srgbClr val="555555"/>
                </a:solidFill>
                <a:latin typeface="Helvetica Neue"/>
              </a:rPr>
              <a:t>ICR’s MDA treatment-coverage Measure already matches the ESPEN reporting schema — an ICR report is the figure ESPEN expects.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