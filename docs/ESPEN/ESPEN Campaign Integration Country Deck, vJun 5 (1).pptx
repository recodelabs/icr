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40680"/>
            <a:ext cx="12188952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Regional Office for Africa · ESPEN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Campaign Integration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calendar reviews &amp; integration opportunities, 2026–2028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C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Campaign Integration Workshop · Kigali, 2026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5806440"/>
            <a:ext cx="201168" cy="20116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5742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Sierra Leone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17520" y="580644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5742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Uganda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5806440"/>
            <a:ext cx="201168" cy="2011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5742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 Congo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5806440"/>
            <a:ext cx="201168" cy="20116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742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Angola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0" y="5806440"/>
            <a:ext cx="201168" cy="201168"/>
          </a:xfrm>
          <a:prstGeom prst="ellipse">
            <a:avLst/>
          </a:prstGeom>
          <a:solidFill>
            <a:srgbClr val="6A8D7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5742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Rep. of Congo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Five-Country Integration Snapshot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calendars 2026–2028   ·   Sierra Leone · Uganda · DR Congo · Angola · Republic of the Congo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09397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2093976" cy="56692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SIERRA LEONE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2093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7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co-delivery match (/100)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" y="3246120"/>
            <a:ext cx="1837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NTD preventive chemotherapy at the core. A spaced calendar leaves clear room to cluster school-based and CDD rounds.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4599432"/>
            <a:ext cx="1545336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994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52344" y="1371600"/>
            <a:ext cx="209397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52344" y="1371600"/>
            <a:ext cx="2093976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2752344" y="1371600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UGANDA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52344" y="2029968"/>
            <a:ext cx="2093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752344" y="2706624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co-delivery match (/100)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3246120"/>
            <a:ext cx="1837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Schistosomiasis &amp; onchocerciasis now folded into the Mar–Oct windows; a ready ICHD platform — consolidate and de-conflict.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26664" y="4599432"/>
            <a:ext cx="1545336" cy="310896"/>
          </a:xfrm>
          <a:prstGeom prst="roundRect">
            <a:avLst>
              <a:gd name="adj" fmla="val 50000"/>
            </a:avLst>
          </a:prstGeom>
          <a:solidFill>
            <a:srgbClr val="E2725B"/>
          </a:solidFill>
          <a:ln/>
        </p:spPr>
      </p:sp>
      <p:sp>
        <p:nvSpPr>
          <p:cNvPr id="22" name="Text 20"/>
          <p:cNvSpPr/>
          <p:nvPr/>
        </p:nvSpPr>
        <p:spPr>
          <a:xfrm>
            <a:off x="3026664" y="45994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47488" y="1371600"/>
            <a:ext cx="209397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47488" y="1371600"/>
            <a:ext cx="2093976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1371600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 CONGO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47488" y="2029968"/>
            <a:ext cx="2093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047488" y="2706624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co-delivery match (/100)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75504" y="3246120"/>
            <a:ext cx="1837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Co-delivery is already the model: four integrated streams, incl. a 5-disease NTD MDA delivered with polio.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21808" y="4599432"/>
            <a:ext cx="1545336" cy="310896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30" name="Text 28"/>
          <p:cNvSpPr/>
          <p:nvPr/>
        </p:nvSpPr>
        <p:spPr>
          <a:xfrm>
            <a:off x="5321808" y="45994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42632" y="1371600"/>
            <a:ext cx="209397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42632" y="1371600"/>
            <a:ext cx="2093976" cy="56692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3" name="Text 31"/>
          <p:cNvSpPr/>
          <p:nvPr/>
        </p:nvSpPr>
        <p:spPr>
          <a:xfrm>
            <a:off x="7342632" y="1371600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ANGOLA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42632" y="2029968"/>
            <a:ext cx="2093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72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7342632" y="2706624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+ Oncho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co-delivery match (/100)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70648" y="3246120"/>
            <a:ext cx="1837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measles–rubella + nOPV2 planned nationwide (Jul 2026), on a strong NTD co-delivery base.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16952" y="4599432"/>
            <a:ext cx="1545336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8" name="Text 36"/>
          <p:cNvSpPr/>
          <p:nvPr/>
        </p:nvSpPr>
        <p:spPr>
          <a:xfrm>
            <a:off x="7616952" y="45994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637776" y="1371600"/>
            <a:ext cx="2093976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37776" y="1371600"/>
            <a:ext cx="2093976" cy="566928"/>
          </a:xfrm>
          <a:prstGeom prst="rect">
            <a:avLst/>
          </a:prstGeom>
          <a:solidFill>
            <a:srgbClr val="6A8D73"/>
          </a:solidFill>
          <a:ln/>
        </p:spPr>
      </p:sp>
      <p:sp>
        <p:nvSpPr>
          <p:cNvPr id="41" name="Text 39"/>
          <p:cNvSpPr/>
          <p:nvPr/>
        </p:nvSpPr>
        <p:spPr>
          <a:xfrm>
            <a:off x="9637776" y="1371600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REP. OF CONGO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637776" y="2029968"/>
            <a:ext cx="2093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8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9637776" y="2706624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 + VAS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co-delivery match (/100)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765792" y="3246120"/>
            <a:ext cx="1837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2028 bundle: yellow fever + ITN + vitamin A + child deworming co-scheduled across the year.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912096" y="4599432"/>
            <a:ext cx="1545336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46" name="Text 44"/>
          <p:cNvSpPr/>
          <p:nvPr/>
        </p:nvSpPr>
        <p:spPr>
          <a:xfrm>
            <a:off x="9912096" y="459943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285232"/>
            <a:ext cx="112745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85800" y="53949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planning to practice — the integration ladder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85800" y="56967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is already planning some co-delivery; the opportunity is to climb higher.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5800" y="6062472"/>
            <a:ext cx="2416302" cy="457200"/>
          </a:xfrm>
          <a:prstGeom prst="roundRect">
            <a:avLst>
              <a:gd name="adj" fmla="val 16000"/>
            </a:avLst>
          </a:prstGeom>
          <a:solidFill>
            <a:srgbClr val="BFD7D6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6062472"/>
            <a:ext cx="241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69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calendar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102102" y="6062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</a:rPr>
              <a:t>&gt;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486150" y="6062472"/>
            <a:ext cx="2416302" cy="457200"/>
          </a:xfrm>
          <a:prstGeom prst="roundRect">
            <a:avLst>
              <a:gd name="adj" fmla="val 16000"/>
            </a:avLst>
          </a:prstGeom>
          <a:solidFill>
            <a:srgbClr val="7FB3B1"/>
          </a:solidFill>
          <a:ln/>
        </p:spPr>
      </p:sp>
      <p:sp>
        <p:nvSpPr>
          <p:cNvPr id="54" name="Text 52"/>
          <p:cNvSpPr/>
          <p:nvPr/>
        </p:nvSpPr>
        <p:spPr>
          <a:xfrm>
            <a:off x="3486150" y="6062472"/>
            <a:ext cx="241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69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microplan &amp; transport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02452" y="6062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</a:rPr>
              <a:t>&gt;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286500" y="6062472"/>
            <a:ext cx="2416302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sp>
        <p:nvSpPr>
          <p:cNvPr id="57" name="Text 55"/>
          <p:cNvSpPr/>
          <p:nvPr/>
        </p:nvSpPr>
        <p:spPr>
          <a:xfrm>
            <a:off x="6286500" y="6062472"/>
            <a:ext cx="241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teams, same window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702802" y="60624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</a:rPr>
              <a:t>&gt;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086850" y="6062472"/>
            <a:ext cx="2416302" cy="457200"/>
          </a:xfrm>
          <a:prstGeom prst="roundRect">
            <a:avLst>
              <a:gd name="adj" fmla="val 16000"/>
            </a:avLst>
          </a:prstGeom>
          <a:solidFill>
            <a:srgbClr val="0E3A43"/>
          </a:solidFill>
          <a:ln/>
        </p:spPr>
      </p:sp>
      <p:sp>
        <p:nvSpPr>
          <p:cNvPr id="60" name="Text 58"/>
          <p:cNvSpPr/>
          <p:nvPr/>
        </p:nvSpPr>
        <p:spPr>
          <a:xfrm>
            <a:off x="9086850" y="6062472"/>
            <a:ext cx="241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CO-ADMINISTRATION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given together to one person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Co-Delivery Archetypes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integration patterns across the five country calendars, with the actions they call for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500116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146304" cy="16733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160020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81328" y="1490472"/>
            <a:ext cx="27752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Community-directed NTD MDA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75988" y="15636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4475988" y="15636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CO-ADMINISTRATION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81328" y="2167128"/>
            <a:ext cx="4311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Onchocerciasis + LF (± SCH, STH, Trachoma)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ivermectin-based round through the CDD network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" y="2670048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 </a:t>
            </a:r>
            <a:pPr indent="0" marL="0"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countries</a:t>
            </a:r>
            <a:pPr indent="0" marL="0">
              <a:buNone/>
            </a:pPr>
            <a:r>
              <a:rPr lang="en-US" sz="95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</a:t>
            </a:r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+ Oncho = 100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1636" y="1325880"/>
            <a:ext cx="5500116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1636" y="1325880"/>
            <a:ext cx="146304" cy="1673352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2532" y="1600200"/>
            <a:ext cx="566928" cy="5669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9" name="Text 17"/>
          <p:cNvSpPr/>
          <p:nvPr/>
        </p:nvSpPr>
        <p:spPr>
          <a:xfrm>
            <a:off x="6542532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255764" y="1490472"/>
            <a:ext cx="27752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School-based deworming &amp; screening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10250424" y="15636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22" name="Text 20"/>
          <p:cNvSpPr/>
          <p:nvPr/>
        </p:nvSpPr>
        <p:spPr>
          <a:xfrm>
            <a:off x="10250424" y="15636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55764" y="2167128"/>
            <a:ext cx="4311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Schistosomiasis + STH (± HPV, Vitamin A)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Praziquantel + albendazole on the school platform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42532" y="2670048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 </a:t>
            </a:r>
            <a:pPr indent="0" marL="0"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· Uganda · Angola · Congo · DRC</a:t>
            </a:r>
            <a:pPr indent="0" marL="0">
              <a:buNone/>
            </a:pPr>
            <a:r>
              <a:rPr lang="en-US" sz="95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</a:t>
            </a:r>
            <a:pPr indent="0" marL="0">
              <a:buNone/>
            </a:pPr>
            <a:r>
              <a:rPr lang="en-US" sz="95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 up to 100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255264"/>
            <a:ext cx="5500116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55264"/>
            <a:ext cx="146304" cy="16733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7" name="Shape 25"/>
          <p:cNvSpPr/>
          <p:nvPr/>
        </p:nvSpPr>
        <p:spPr>
          <a:xfrm>
            <a:off x="768096" y="3529584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481328" y="3419856"/>
            <a:ext cx="27752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 health days (nutrition × EPI)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4475988" y="349300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4475988" y="34930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81328" y="4096512"/>
            <a:ext cx="4311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A + deworming + measles/YF (± ITN, MUAC)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Twice-yearly integrated child health days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8096" y="4599432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 </a:t>
            </a:r>
            <a:pPr indent="0" marL="0"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(JLV) · Congo · Uganda (ICHD) · Angola</a:t>
            </a:r>
            <a:pPr indent="0" marL="0">
              <a:buNone/>
            </a:pPr>
            <a:r>
              <a:rPr lang="en-US" sz="95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 + VAS = 100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1636" y="3255264"/>
            <a:ext cx="5500116" cy="1673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1636" y="3255264"/>
            <a:ext cx="146304" cy="167335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6" name="Shape 34"/>
          <p:cNvSpPr/>
          <p:nvPr/>
        </p:nvSpPr>
        <p:spPr>
          <a:xfrm>
            <a:off x="6542532" y="3529584"/>
            <a:ext cx="566928" cy="566928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7" name="Text 35"/>
          <p:cNvSpPr/>
          <p:nvPr/>
        </p:nvSpPr>
        <p:spPr>
          <a:xfrm>
            <a:off x="6542532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255764" y="3419856"/>
            <a:ext cx="27752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immunization SIAs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10250424" y="349300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2725B"/>
          </a:solidFill>
          <a:ln/>
        </p:spPr>
      </p:sp>
      <p:sp>
        <p:nvSpPr>
          <p:cNvPr id="40" name="Text 38"/>
          <p:cNvSpPr/>
          <p:nvPr/>
        </p:nvSpPr>
        <p:spPr>
          <a:xfrm>
            <a:off x="10250424" y="34930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CO-ADMINISTRATION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55764" y="4096512"/>
            <a:ext cx="4311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Measles–Rubella + Polio (± Yellow Fever, OCV, TCV)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cold chain, posts and microplanning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42532" y="4599432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 </a:t>
            </a:r>
            <a:pPr indent="0" marL="0">
              <a:buNone/>
            </a:pPr>
            <a:r>
              <a:rPr lang="en-US" sz="9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· Angola (MR+nOPV2) · Congo · SL (MR+TCV)</a:t>
            </a:r>
            <a:pPr indent="0" marL="0">
              <a:buNone/>
            </a:pPr>
            <a:r>
              <a:rPr lang="en-US" sz="95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</a:t>
            </a:r>
            <a:pPr indent="0" marL="0">
              <a:buNone/>
            </a:pPr>
            <a:r>
              <a:rPr lang="en-US" sz="95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SIAs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5138928"/>
            <a:ext cx="11274552" cy="1517904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5138928"/>
            <a:ext cx="146304" cy="15179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5285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ON IT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1520" y="57058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188720" y="5669280"/>
            <a:ext cx="21145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integration on immunization SIAs and child health days as delivery platforms.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12998" y="57058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0" name="Text 48"/>
          <p:cNvSpPr/>
          <p:nvPr/>
        </p:nvSpPr>
        <p:spPr>
          <a:xfrm>
            <a:off x="341299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3870198" y="5669280"/>
            <a:ext cx="21145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Co-administer CDD NTDs and school-based PC where diseases are co-endemic.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94476" y="57058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3" name="Text 51"/>
          <p:cNvSpPr/>
          <p:nvPr/>
        </p:nvSpPr>
        <p:spPr>
          <a:xfrm>
            <a:off x="6094476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551676" y="5669280"/>
            <a:ext cx="21145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true co-location with admin-level microplanning; de-conflict peak months.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775954" y="57058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6" name="Text 54"/>
          <p:cNvSpPr/>
          <p:nvPr/>
        </p:nvSpPr>
        <p:spPr>
          <a:xfrm>
            <a:off x="8775954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233154" y="5669280"/>
            <a:ext cx="21145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digital campaign management (e.g. DIGIT HCM) for microplanning &amp;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Sierra Leone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NTD preventive chemotherapy at the core · Emerging integration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154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A7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  </a:t>
            </a:r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 (/100)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3FA7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PERIOD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5570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050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3FA7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CAMPAIGNS SCORED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2702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campaigns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7640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3FA7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MATURITY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2606040" cy="9144"/>
          </a:xfrm>
          <a:prstGeom prst="rect">
            <a:avLst/>
          </a:prstGeom>
          <a:noFill/>
          <a:ln w="12700">
            <a:solidFill>
              <a:srgbClr val="E2E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32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note:  </a:t>
            </a:r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admin-1 names corrected (e.g. North West).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1298448"/>
            <a:ext cx="7891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opportunities (by time and place)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0480" y="1783080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0" y="1783080"/>
            <a:ext cx="118872" cy="105841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24" name="Shape 22"/>
          <p:cNvSpPr/>
          <p:nvPr/>
        </p:nvSpPr>
        <p:spPr>
          <a:xfrm>
            <a:off x="4096512" y="196596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3FA796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19659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Jul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40112" y="19659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0112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1947672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Onchocerciasis + STH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96512" y="245745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Co-administer ivermectin + albendazole via the CDD network (+ LF where co-endemic)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969514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2969514"/>
            <a:ext cx="118872" cy="105841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32" name="Shape 30"/>
          <p:cNvSpPr/>
          <p:nvPr/>
        </p:nvSpPr>
        <p:spPr>
          <a:xfrm>
            <a:off x="4096512" y="3152394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3FA796"/>
          </a:solidFill>
          <a:ln/>
        </p:spPr>
      </p:sp>
      <p:sp>
        <p:nvSpPr>
          <p:cNvPr id="33" name="Text 31"/>
          <p:cNvSpPr/>
          <p:nvPr/>
        </p:nvSpPr>
        <p:spPr>
          <a:xfrm>
            <a:off x="4096512" y="315239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2027–28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40112" y="315239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5" name="Text 33"/>
          <p:cNvSpPr/>
          <p:nvPr/>
        </p:nvSpPr>
        <p:spPr>
          <a:xfrm>
            <a:off x="10040112" y="315239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32120" y="313410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Schistosomiasis + STH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96512" y="36438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to a single school-based round (praziquantel + albendazole)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4155948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0" y="4155948"/>
            <a:ext cx="118872" cy="105841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40" name="Shape 38"/>
          <p:cNvSpPr/>
          <p:nvPr/>
        </p:nvSpPr>
        <p:spPr>
          <a:xfrm>
            <a:off x="4096512" y="4338828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3FA796"/>
          </a:solidFill>
          <a:ln/>
        </p:spPr>
      </p:sp>
      <p:sp>
        <p:nvSpPr>
          <p:cNvPr id="41" name="Text 39"/>
          <p:cNvSpPr/>
          <p:nvPr/>
        </p:nvSpPr>
        <p:spPr>
          <a:xfrm>
            <a:off x="4096512" y="43388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 · Mar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040112" y="433882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43" name="Text 41"/>
          <p:cNvSpPr/>
          <p:nvPr/>
        </p:nvSpPr>
        <p:spPr>
          <a:xfrm>
            <a:off x="10040112" y="43388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32120" y="43205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ITN/LLIN + Measles-Rubella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96512" y="483031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social mobilisation, transport and microplanning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40480" y="5342382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0" y="5342382"/>
            <a:ext cx="118872" cy="105841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48" name="Shape 46"/>
          <p:cNvSpPr/>
          <p:nvPr/>
        </p:nvSpPr>
        <p:spPr>
          <a:xfrm>
            <a:off x="4096512" y="5525262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3FA796"/>
          </a:solidFill>
          <a:ln/>
        </p:spPr>
      </p:sp>
      <p:sp>
        <p:nvSpPr>
          <p:cNvPr id="49" name="Text 47"/>
          <p:cNvSpPr/>
          <p:nvPr/>
        </p:nvSpPr>
        <p:spPr>
          <a:xfrm>
            <a:off x="4096512" y="552526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040112" y="552526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51" name="Text 49"/>
          <p:cNvSpPr/>
          <p:nvPr/>
        </p:nvSpPr>
        <p:spPr>
          <a:xfrm>
            <a:off x="10040112" y="552526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32120" y="5506974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Measles-Rubella + TCV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096512" y="601675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cold chain &amp; teams; consider a combined multi-antigen SIA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Sierra Leone — Profile-based integration scan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similarity × time–place alignment of every campaign pair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253375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SL_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5161935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5532120"/>
            <a:ext cx="516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triage — each point is a campaign pair (top-right = co-deliver now).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39175" y="1371600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co-delivery matches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39175" y="1828800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3767" y="1828800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360152" y="192024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5" name="Text 12"/>
          <p:cNvSpPr/>
          <p:nvPr/>
        </p:nvSpPr>
        <p:spPr>
          <a:xfrm>
            <a:off x="10360152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  ·  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39175" y="2432304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3767" y="2432304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+ TCV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360152" y="2523744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9" name="Text 16"/>
          <p:cNvSpPr/>
          <p:nvPr/>
        </p:nvSpPr>
        <p:spPr>
          <a:xfrm>
            <a:off x="10360152" y="25237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  ·  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39175" y="3035808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3767" y="3035808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 + Oncho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360152" y="312724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5BA199"/>
          </a:solidFill>
          <a:ln/>
        </p:spPr>
      </p:sp>
      <p:sp>
        <p:nvSpPr>
          <p:cNvPr id="23" name="Text 20"/>
          <p:cNvSpPr/>
          <p:nvPr/>
        </p:nvSpPr>
        <p:spPr>
          <a:xfrm>
            <a:off x="10360152" y="3127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 ·  B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39175" y="3867912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84895" y="4279392"/>
            <a:ext cx="570113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Co-deliver onchocerciasis (± LF) and STH via CDD; combine SCH + STH in school rounds.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microplanning and cold chain for the MR and TCV immunization SIAs.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endemicity and WHO PC-NTD co-treatment eligibility before finalising.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admin-1 names corrected (e.g. North West).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Uganda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2026 calendar · ready Integrated Child Health Days platform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154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  </a:t>
            </a:r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 (/100)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PERIOD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5570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050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CAMPAIGNS SCORED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2702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scheduled (LF undated)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7640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MATURITY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— consolidate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2606040" cy="9144"/>
          </a:xfrm>
          <a:prstGeom prst="rect">
            <a:avLst/>
          </a:prstGeom>
          <a:noFill/>
          <a:ln w="12700">
            <a:solidFill>
              <a:srgbClr val="E2E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32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note:  </a:t>
            </a:r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submission; LF listed without scheduled months. National-level coverage — confirm with district microplanning.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1298448"/>
            <a:ext cx="7891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opportunities (by time and place)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0480" y="1783080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0" y="1783080"/>
            <a:ext cx="118872" cy="105841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Shape 22"/>
          <p:cNvSpPr/>
          <p:nvPr/>
        </p:nvSpPr>
        <p:spPr>
          <a:xfrm>
            <a:off x="4096512" y="196596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19659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Mar–Oct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40112" y="19659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0112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1947672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+ STH + SCH + Vitamin 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96512" y="245745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school health days: vaccination + deworming + PZQ + vitamin 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969514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2969514"/>
            <a:ext cx="118872" cy="105841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096512" y="3152394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4096512" y="315239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Mar–Oct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40112" y="315239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5" name="Text 33"/>
          <p:cNvSpPr/>
          <p:nvPr/>
        </p:nvSpPr>
        <p:spPr>
          <a:xfrm>
            <a:off x="10040112" y="315239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32120" y="313410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Onchocerciasis + Trachoma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96512" y="36438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Co-administer via the CDD network; schedule LF to join the same round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4155948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0" y="4155948"/>
            <a:ext cx="118872" cy="105841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0" name="Shape 38"/>
          <p:cNvSpPr/>
          <p:nvPr/>
        </p:nvSpPr>
        <p:spPr>
          <a:xfrm>
            <a:off x="4096512" y="4338828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/>
        </p:spPr>
      </p:sp>
      <p:sp>
        <p:nvSpPr>
          <p:cNvPr id="41" name="Text 39"/>
          <p:cNvSpPr/>
          <p:nvPr/>
        </p:nvSpPr>
        <p:spPr>
          <a:xfrm>
            <a:off x="4096512" y="43388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Apr–Oct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040112" y="433882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43" name="Text 41"/>
          <p:cNvSpPr/>
          <p:nvPr/>
        </p:nvSpPr>
        <p:spPr>
          <a:xfrm>
            <a:off x="10040112" y="43388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32120" y="43205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SMC + Schistosomiasis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96512" y="483031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community mobilisation and microplanning in the same windows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40480" y="5342382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0" y="5342382"/>
            <a:ext cx="118872" cy="105841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8" name="Shape 46"/>
          <p:cNvSpPr/>
          <p:nvPr/>
        </p:nvSpPr>
        <p:spPr>
          <a:xfrm>
            <a:off x="4096512" y="5525262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A33D"/>
          </a:solidFill>
          <a:ln/>
        </p:spPr>
      </p:sp>
      <p:sp>
        <p:nvSpPr>
          <p:cNvPr id="49" name="Text 47"/>
          <p:cNvSpPr/>
          <p:nvPr/>
        </p:nvSpPr>
        <p:spPr>
          <a:xfrm>
            <a:off x="4096512" y="552526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Oct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040112" y="552526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51" name="Text 49"/>
          <p:cNvSpPr/>
          <p:nvPr/>
        </p:nvSpPr>
        <p:spPr>
          <a:xfrm>
            <a:off x="10040112" y="552526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32120" y="5506974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Measles-Rubella + child-health round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096512" y="601675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October MR campaign into the integrated child-health day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Uganda — Profile-based integration scan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similarity × time–place alignment of every campaign pair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253375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UG_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5161935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5532120"/>
            <a:ext cx="516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triage — each point is a campaign pair (top-right = co-deliver now).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39175" y="1371600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co-delivery matches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39175" y="1828800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3767" y="1828800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360152" y="192024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5" name="Text 12"/>
          <p:cNvSpPr/>
          <p:nvPr/>
        </p:nvSpPr>
        <p:spPr>
          <a:xfrm>
            <a:off x="10360152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  ·  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39175" y="2432304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3767" y="2432304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+ STH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360152" y="2523744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9" name="Text 16"/>
          <p:cNvSpPr/>
          <p:nvPr/>
        </p:nvSpPr>
        <p:spPr>
          <a:xfrm>
            <a:off x="10360152" y="25237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 ·  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39175" y="3035808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3767" y="3035808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+ VAS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360152" y="312724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23" name="Text 20"/>
          <p:cNvSpPr/>
          <p:nvPr/>
        </p:nvSpPr>
        <p:spPr>
          <a:xfrm>
            <a:off x="10360152" y="3127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 ·  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39175" y="3867912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84895" y="4279392"/>
            <a:ext cx="570113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integrated school &amp; child-health days (HPV + deworming + PZQ + vitamin A) in the Mar/Apr/Sep/Oct windows.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Co-administer onchocerciasis + trachoma via CDD; schedule LF (currently undated) into the same round.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De-conflict the dense four-month period with district microplanning; capture admin-1 granularity.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submission; LF listed without scheduled months. National-level coverage — confirm with district microplanning.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Democratic Republic of the Congo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integrated streams already operating · regional reference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154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  </a:t>
            </a:r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 (/100)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PERIOD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5570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050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CAMPAIGNS SCORED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2702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campaigns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7640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MATURITY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2606040" cy="9144"/>
          </a:xfrm>
          <a:prstGeom prst="rect">
            <a:avLst/>
          </a:prstGeom>
          <a:noFill/>
          <a:ln w="12700">
            <a:solidFill>
              <a:srgbClr val="E2E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32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note:  </a:t>
            </a:r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Re-mapped from the national plan; province lists need country verification.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1298448"/>
            <a:ext cx="7891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opportunities (by time and place)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0480" y="1783080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0" y="1783080"/>
            <a:ext cx="118872" cy="105841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Shape 22"/>
          <p:cNvSpPr/>
          <p:nvPr/>
        </p:nvSpPr>
        <p:spPr>
          <a:xfrm>
            <a:off x="4096512" y="196596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19659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Jul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40112" y="19659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0112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1947672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Measles-Rubella + OPV/nVPO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96512" y="245745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RR–Polio SIA across the Kasaï provinces and Kivus (PA 3.1/3.2)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969514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2969514"/>
            <a:ext cx="118872" cy="105841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2" name="Shape 30"/>
          <p:cNvSpPr/>
          <p:nvPr/>
        </p:nvSpPr>
        <p:spPr>
          <a:xfrm>
            <a:off x="4096512" y="3152394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0E7C7B"/>
          </a:solidFill>
          <a:ln/>
        </p:spPr>
      </p:sp>
      <p:sp>
        <p:nvSpPr>
          <p:cNvPr id="33" name="Text 31"/>
          <p:cNvSpPr/>
          <p:nvPr/>
        </p:nvSpPr>
        <p:spPr>
          <a:xfrm>
            <a:off x="4096512" y="315239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Jun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40112" y="315239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3A43"/>
          </a:solidFill>
          <a:ln/>
        </p:spPr>
      </p:sp>
      <p:sp>
        <p:nvSpPr>
          <p:cNvPr id="35" name="Text 33"/>
          <p:cNvSpPr/>
          <p:nvPr/>
        </p:nvSpPr>
        <p:spPr>
          <a:xfrm>
            <a:off x="10040112" y="315239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Co-administration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32120" y="313410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A + STH (albendazole)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96512" y="36438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vitamin A + deworming round in 9 provinces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4155948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0" y="4155948"/>
            <a:ext cx="118872" cy="105841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0" name="Shape 38"/>
          <p:cNvSpPr/>
          <p:nvPr/>
        </p:nvSpPr>
        <p:spPr>
          <a:xfrm>
            <a:off x="4096512" y="4338828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0E7C7B"/>
          </a:solidFill>
          <a:ln/>
        </p:spPr>
      </p:sp>
      <p:sp>
        <p:nvSpPr>
          <p:cNvPr id="41" name="Text 39"/>
          <p:cNvSpPr/>
          <p:nvPr/>
        </p:nvSpPr>
        <p:spPr>
          <a:xfrm>
            <a:off x="4096512" y="43388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Dec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040112" y="433882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43" name="Text 41"/>
          <p:cNvSpPr/>
          <p:nvPr/>
        </p:nvSpPr>
        <p:spPr>
          <a:xfrm>
            <a:off x="10040112" y="43388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32120" y="43205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ITN + VAS + STH + MUAC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96512" y="483031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VitA–Albendazole–MUAC–MIILD bundle (PA 3.4)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40480" y="5342382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0" y="5342382"/>
            <a:ext cx="118872" cy="105841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8" name="Shape 46"/>
          <p:cNvSpPr/>
          <p:nvPr/>
        </p:nvSpPr>
        <p:spPr>
          <a:xfrm>
            <a:off x="4096512" y="5525262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0E7C7B"/>
          </a:solidFill>
          <a:ln/>
        </p:spPr>
      </p:sp>
      <p:sp>
        <p:nvSpPr>
          <p:cNvPr id="49" name="Text 47"/>
          <p:cNvSpPr/>
          <p:nvPr/>
        </p:nvSpPr>
        <p:spPr>
          <a:xfrm>
            <a:off x="4096512" y="552526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Nov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040112" y="552526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3A43"/>
          </a:solidFill>
          <a:ln/>
        </p:spPr>
      </p:sp>
      <p:sp>
        <p:nvSpPr>
          <p:cNvPr id="51" name="Text 49"/>
          <p:cNvSpPr/>
          <p:nvPr/>
        </p:nvSpPr>
        <p:spPr>
          <a:xfrm>
            <a:off x="10040112" y="552526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Co-administration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32120" y="5506974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Oncho + LF + SCH + STH + Trachoma + OPV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096512" y="601675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NTD MDA (IVM+PZQ+ALB+AZI+TEO) with polio (Maniema, PA 3.3)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 Congo — Profile-based integration scan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similarity × time–place alignment of every campaign pair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253375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CD_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5161935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5532120"/>
            <a:ext cx="516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triage — each point is a campaign pair (top-right = co-deliver now).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39175" y="1371600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co-delivery matches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39175" y="1828800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3767" y="1828800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360152" y="192024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5" name="Text 12"/>
          <p:cNvSpPr/>
          <p:nvPr/>
        </p:nvSpPr>
        <p:spPr>
          <a:xfrm>
            <a:off x="10360152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 ·  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39175" y="2432304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3767" y="2432304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Oncho + Trachoma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360152" y="2523744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9" name="Text 16"/>
          <p:cNvSpPr/>
          <p:nvPr/>
        </p:nvSpPr>
        <p:spPr>
          <a:xfrm>
            <a:off x="10360152" y="25237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 ·  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39175" y="3035808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3767" y="3035808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+ YF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360152" y="312724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23" name="Text 20"/>
          <p:cNvSpPr/>
          <p:nvPr/>
        </p:nvSpPr>
        <p:spPr>
          <a:xfrm>
            <a:off x="10360152" y="3127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 ·  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39175" y="3867912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84895" y="4279392"/>
            <a:ext cx="570113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the four integrated streams (RR–Polio, JLV nutrition bundle, NTD MDA, EPI–nutrition).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co-delivery where ages align; advance DIGIT HCM for microplanning &amp; monitoring.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re-mapped workbook and the NTD-package disease split against the national plan.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Re-mapped from the national plan; province lists need country verification.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Angola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MR + nOPV2 (Jul 2026) · strong NTD co-delivery base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154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272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+ Oncho  </a:t>
            </a:r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 (/100)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272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PERIOD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5570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050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272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CAMPAIGNS SCORED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2702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scored (of 6 reported)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7640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272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MATURITY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2606040" cy="9144"/>
          </a:xfrm>
          <a:prstGeom prst="rect">
            <a:avLst/>
          </a:prstGeom>
          <a:noFill/>
          <a:ln w="12700">
            <a:solidFill>
              <a:srgbClr val="E2E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32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note:  </a:t>
            </a:r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template example rows; MR &amp; OPV not profiled (excluded from scoring).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1298448"/>
            <a:ext cx="7891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opportunities (by time and place)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0480" y="1783080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0" y="1783080"/>
            <a:ext cx="118872" cy="105841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4" name="Shape 22"/>
          <p:cNvSpPr/>
          <p:nvPr/>
        </p:nvSpPr>
        <p:spPr>
          <a:xfrm>
            <a:off x="4096512" y="196596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2725B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19659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Jul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40112" y="19659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0112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1947672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Measles-Rubella + OPV/nVPO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96512" y="245745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MR + nOPV2 SIA already planned across the provinces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969514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2969514"/>
            <a:ext cx="118872" cy="105841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2" name="Shape 30"/>
          <p:cNvSpPr/>
          <p:nvPr/>
        </p:nvSpPr>
        <p:spPr>
          <a:xfrm>
            <a:off x="4096512" y="3152394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2725B"/>
          </a:solidFill>
          <a:ln/>
        </p:spPr>
      </p:sp>
      <p:sp>
        <p:nvSpPr>
          <p:cNvPr id="33" name="Text 31"/>
          <p:cNvSpPr/>
          <p:nvPr/>
        </p:nvSpPr>
        <p:spPr>
          <a:xfrm>
            <a:off x="4096512" y="315239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Jul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40112" y="315239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3A43"/>
          </a:solidFill>
          <a:ln/>
        </p:spPr>
      </p:sp>
      <p:sp>
        <p:nvSpPr>
          <p:cNvPr id="35" name="Text 33"/>
          <p:cNvSpPr/>
          <p:nvPr/>
        </p:nvSpPr>
        <p:spPr>
          <a:xfrm>
            <a:off x="10040112" y="315239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Co-administration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32120" y="313410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Onchocerciasis + LF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96512" y="36438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Co-administer ivermectin (± IDA) via shared CDD network (co-endemic provinces)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4155948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0" y="4155948"/>
            <a:ext cx="118872" cy="105841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40" name="Shape 38"/>
          <p:cNvSpPr/>
          <p:nvPr/>
        </p:nvSpPr>
        <p:spPr>
          <a:xfrm>
            <a:off x="4096512" y="4338828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2725B"/>
          </a:solidFill>
          <a:ln/>
        </p:spPr>
      </p:sp>
      <p:sp>
        <p:nvSpPr>
          <p:cNvPr id="41" name="Text 39"/>
          <p:cNvSpPr/>
          <p:nvPr/>
        </p:nvSpPr>
        <p:spPr>
          <a:xfrm>
            <a:off x="4096512" y="43388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Jun/Aug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040112" y="433882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43" name="Text 41"/>
          <p:cNvSpPr/>
          <p:nvPr/>
        </p:nvSpPr>
        <p:spPr>
          <a:xfrm>
            <a:off x="10040112" y="43388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32120" y="43205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Schistosomiasis + STH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96512" y="483031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SCH (Jun) and STH (Aug) into one school-based round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40480" y="5342382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0" y="5342382"/>
            <a:ext cx="118872" cy="105841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48" name="Shape 46"/>
          <p:cNvSpPr/>
          <p:nvPr/>
        </p:nvSpPr>
        <p:spPr>
          <a:xfrm>
            <a:off x="4096512" y="5525262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2725B"/>
          </a:solidFill>
          <a:ln/>
        </p:spPr>
      </p:sp>
      <p:sp>
        <p:nvSpPr>
          <p:cNvPr id="49" name="Text 47"/>
          <p:cNvSpPr/>
          <p:nvPr/>
        </p:nvSpPr>
        <p:spPr>
          <a:xfrm>
            <a:off x="4096512" y="552526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· Jul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040112" y="552526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6A8D73"/>
          </a:solidFill>
          <a:ln/>
        </p:spPr>
      </p:sp>
      <p:sp>
        <p:nvSpPr>
          <p:cNvPr id="51" name="Text 49"/>
          <p:cNvSpPr/>
          <p:nvPr/>
        </p:nvSpPr>
        <p:spPr>
          <a:xfrm>
            <a:off x="10040112" y="552526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32120" y="5506974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NTD round overlaps MR + OPV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096512" y="601675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age-eligible, align the CDD NTD round with the July immunization campaign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Angola — Profile-based integration scan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similarity × time–place alignment of every campaign pair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253375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AO_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5161935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5532120"/>
            <a:ext cx="516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triage — each point is a campaign pair (top-right = co-deliver now).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39175" y="1371600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co-delivery matches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39175" y="1828800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3767" y="1828800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+ Oncho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360152" y="192024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5" name="Text 12"/>
          <p:cNvSpPr/>
          <p:nvPr/>
        </p:nvSpPr>
        <p:spPr>
          <a:xfrm>
            <a:off x="10360152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 ·  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39175" y="2432304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3767" y="2432304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STH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360152" y="2523744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9" name="Text 16"/>
          <p:cNvSpPr/>
          <p:nvPr/>
        </p:nvSpPr>
        <p:spPr>
          <a:xfrm>
            <a:off x="10360152" y="25237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  ·  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39175" y="3035808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3767" y="3035808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 + Oncho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360152" y="312724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5BA199"/>
          </a:solidFill>
          <a:ln/>
        </p:spPr>
      </p:sp>
      <p:sp>
        <p:nvSpPr>
          <p:cNvPr id="23" name="Text 20"/>
          <p:cNvSpPr/>
          <p:nvPr/>
        </p:nvSpPr>
        <p:spPr>
          <a:xfrm>
            <a:off x="10360152" y="3127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  ·  B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39175" y="3867912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84895" y="4279392"/>
            <a:ext cx="570113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July MR + nOPV2 round as the anchor for further integration.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Co-administer oncho + LF in co-endemic provinces; align SCH + STH school round.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workbook (add WHO-aligned profiles for MR, OPV and the 'Outro' antigen).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template example rows; MR &amp; OPV not profiled (excluded from scoring).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6A8D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Republic of the Congo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2028 bundle · genuine national plan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154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solidFill>
            <a:srgbClr val="6A8D7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A8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 + VAS  </a:t>
            </a:r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 (/100)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A8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PERIOD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5570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050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A8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CAMPAIGNS SCORED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2702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campaigns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7640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A8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MATURITY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2606040" cy="9144"/>
          </a:xfrm>
          <a:prstGeom prst="rect">
            <a:avLst/>
          </a:prstGeom>
          <a:noFill/>
          <a:ln w="12700">
            <a:solidFill>
              <a:srgbClr val="E2E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32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note:  </a:t>
            </a:r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Synthèse rebuilt; geography reported at generic admin-1 level.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1298448"/>
            <a:ext cx="7891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opportunities (by time and place)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0480" y="1783080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0" y="1783080"/>
            <a:ext cx="118872" cy="1058418"/>
          </a:xfrm>
          <a:prstGeom prst="rect">
            <a:avLst/>
          </a:prstGeom>
          <a:solidFill>
            <a:srgbClr val="6A8D73"/>
          </a:solidFill>
          <a:ln/>
        </p:spPr>
      </p:sp>
      <p:sp>
        <p:nvSpPr>
          <p:cNvPr id="24" name="Shape 22"/>
          <p:cNvSpPr/>
          <p:nvPr/>
        </p:nvSpPr>
        <p:spPr>
          <a:xfrm>
            <a:off x="4096512" y="196596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6A8D73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19659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40112" y="19659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0112" y="1965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1947672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A + STH + Yellow Fever (+ ITN)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96512" y="245745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the planned integrated nutrition + immunization bundle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969514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2969514"/>
            <a:ext cx="118872" cy="1058418"/>
          </a:xfrm>
          <a:prstGeom prst="rect">
            <a:avLst/>
          </a:prstGeom>
          <a:solidFill>
            <a:srgbClr val="6A8D73"/>
          </a:solidFill>
          <a:ln/>
        </p:spPr>
      </p:sp>
      <p:sp>
        <p:nvSpPr>
          <p:cNvPr id="32" name="Shape 30"/>
          <p:cNvSpPr/>
          <p:nvPr/>
        </p:nvSpPr>
        <p:spPr>
          <a:xfrm>
            <a:off x="4096512" y="3152394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6A8D73"/>
          </a:solidFill>
          <a:ln/>
        </p:spPr>
      </p:sp>
      <p:sp>
        <p:nvSpPr>
          <p:cNvPr id="33" name="Text 31"/>
          <p:cNvSpPr/>
          <p:nvPr/>
        </p:nvSpPr>
        <p:spPr>
          <a:xfrm>
            <a:off x="4096512" y="315239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 · Jun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40112" y="315239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35" name="Text 33"/>
          <p:cNvSpPr/>
          <p:nvPr/>
        </p:nvSpPr>
        <p:spPr>
          <a:xfrm>
            <a:off x="10040112" y="315239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32120" y="313410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+ Vitamin A + STH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96512" y="36438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school-based HPV with school deworming and vitamin 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4155948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0" y="4155948"/>
            <a:ext cx="118872" cy="1058418"/>
          </a:xfrm>
          <a:prstGeom prst="rect">
            <a:avLst/>
          </a:prstGeom>
          <a:solidFill>
            <a:srgbClr val="6A8D73"/>
          </a:solidFill>
          <a:ln/>
        </p:spPr>
      </p:sp>
      <p:sp>
        <p:nvSpPr>
          <p:cNvPr id="40" name="Shape 38"/>
          <p:cNvSpPr/>
          <p:nvPr/>
        </p:nvSpPr>
        <p:spPr>
          <a:xfrm>
            <a:off x="4096512" y="4338828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6A8D73"/>
          </a:solidFill>
          <a:ln/>
        </p:spPr>
      </p:sp>
      <p:sp>
        <p:nvSpPr>
          <p:cNvPr id="41" name="Text 39"/>
          <p:cNvSpPr/>
          <p:nvPr/>
        </p:nvSpPr>
        <p:spPr>
          <a:xfrm>
            <a:off x="4096512" y="43388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040112" y="433882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43" name="Text 41"/>
          <p:cNvSpPr/>
          <p:nvPr/>
        </p:nvSpPr>
        <p:spPr>
          <a:xfrm>
            <a:off x="10040112" y="43388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Co-delivery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32120" y="43205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Measles-Rubella SIA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96512" y="483031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broad MR window as an anchor for vitamin A / deworming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40480" y="5342382"/>
            <a:ext cx="7891272" cy="10584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0" y="5342382"/>
            <a:ext cx="118872" cy="1058418"/>
          </a:xfrm>
          <a:prstGeom prst="rect">
            <a:avLst/>
          </a:prstGeom>
          <a:solidFill>
            <a:srgbClr val="6A8D73"/>
          </a:solidFill>
          <a:ln/>
        </p:spPr>
      </p:sp>
      <p:sp>
        <p:nvSpPr>
          <p:cNvPr id="48" name="Shape 46"/>
          <p:cNvSpPr/>
          <p:nvPr/>
        </p:nvSpPr>
        <p:spPr>
          <a:xfrm>
            <a:off x="4096512" y="5525262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6A8D73"/>
          </a:solidFill>
          <a:ln/>
        </p:spPr>
      </p:sp>
      <p:sp>
        <p:nvSpPr>
          <p:cNvPr id="49" name="Text 47"/>
          <p:cNvSpPr/>
          <p:nvPr/>
        </p:nvSpPr>
        <p:spPr>
          <a:xfrm>
            <a:off x="4096512" y="552526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040112" y="552526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6A8D73"/>
          </a:solidFill>
          <a:ln/>
        </p:spPr>
      </p:sp>
      <p:sp>
        <p:nvSpPr>
          <p:cNvPr id="51" name="Text 49"/>
          <p:cNvSpPr/>
          <p:nvPr/>
        </p:nvSpPr>
        <p:spPr>
          <a:xfrm>
            <a:off x="10040112" y="552526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32120" y="5506974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Ebola (Aug) · Schistosomiasis (Nov)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096512" y="601675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Stand-alone; coordinate planning only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3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161288"/>
          </a:xfrm>
          <a:prstGeom prst="rect">
            <a:avLst/>
          </a:prstGeom>
          <a:solidFill>
            <a:srgbClr val="6A8D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Rep. of the Congo — Profile-based integration scan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similarity × time–place alignment of every campaign pair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64040" y="310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</a:t>
            </a:r>
            <a:endParaRPr lang="en-US" sz="12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Integration Workshop · Kigali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253375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CG_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5161935" cy="4160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5532120"/>
            <a:ext cx="516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triage — each point is a campaign pair (top-right = co-deliver now).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39175" y="1371600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co-delivery matches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39175" y="1828800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3767" y="1828800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 + VAS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360152" y="192024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5" name="Text 12"/>
          <p:cNvSpPr/>
          <p:nvPr/>
        </p:nvSpPr>
        <p:spPr>
          <a:xfrm>
            <a:off x="10360152" y="19202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 ·  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39175" y="2432304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3767" y="2432304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 + VAS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360152" y="2523744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19" name="Text 16"/>
          <p:cNvSpPr/>
          <p:nvPr/>
        </p:nvSpPr>
        <p:spPr>
          <a:xfrm>
            <a:off x="10360152" y="25237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 ·  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39175" y="3035808"/>
            <a:ext cx="5792577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3767" y="3035808"/>
            <a:ext cx="414665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 + STH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360152" y="312724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1B7837"/>
          </a:solidFill>
          <a:ln/>
        </p:spPr>
      </p:sp>
      <p:sp>
        <p:nvSpPr>
          <p:cNvPr id="23" name="Text 20"/>
          <p:cNvSpPr/>
          <p:nvPr/>
        </p:nvSpPr>
        <p:spPr>
          <a:xfrm>
            <a:off x="10360152" y="3127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 ·  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39175" y="3867912"/>
            <a:ext cx="5792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84895" y="4279392"/>
            <a:ext cx="570113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the integrated 2028 bundle (yellow fever + ITN + vitamin A + deworming).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HPV with school deworming &amp; vitamin A; anchor on the 2027 measles-rubella SIA.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departments for true co-location; keep the Ebola campaign stand-alone.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900" i="1" dirty="0">
                <a:solidFill>
                  <a:srgbClr val="556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Synthèse rebuilt; geography reported at generic admin-1 level.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countries, one direction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32688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Co-delivery is already happening — the task is to make it systematic.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2402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underway 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plans some co-delivery — DR Congo already co-administers a 5-disease NTD round with polio.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2461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repeatable archetypes 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CDD NTD MDA · school-based deworming · child health days · integrated immunization SIAs.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microplanning + digital tools 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co-location at admin level, de-conflict peak months, and invest in digital campaign management (e.g. DIGIT HCM).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3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· AFRO · ESPEN   ·   Campaign Integration Workshop · Kigali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Campaign Integration — Country Reviews</dc:title>
  <dc:subject>PptxGenJS Presentation</dc:subject>
  <dc:creator>WHO AFRO ESPEN</dc:creator>
  <cp:lastModifiedBy>WHO AFRO ESPEN</cp:lastModifiedBy>
  <cp:revision>1</cp:revision>
  <dcterms:created xsi:type="dcterms:W3CDTF">2026-06-05T14:32:27Z</dcterms:created>
  <dcterms:modified xsi:type="dcterms:W3CDTF">2026-06-05T14:32:27Z</dcterms:modified>
</cp:coreProperties>
</file>